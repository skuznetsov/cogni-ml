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8229600"/>
          </a:xfrm>
          <a:prstGeom prst="rect">
            <a:avLst/>
          </a:prstGeom>
          <a:solidFill>
            <a:srgbClr val="5B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325880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400" b="1">
                <a:solidFill>
                  <a:srgbClr val="EEF1E8"/>
                </a:solidFill>
                <a:latin typeface="Aptos Display"/>
              </a:rPr>
              <a:t>How We Built a Qwen 3.5/3.6 Inference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051560"/>
            <a:ext cx="120700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0">
                <a:solidFill>
                  <a:srgbClr val="A6B3AE"/>
                </a:solidFill>
                <a:latin typeface="Aptos Display"/>
              </a:rPr>
              <a:t>Native Crystal + Metal runtime for Qwen GGUF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73152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00" b="1">
                <a:solidFill>
                  <a:srgbClr val="5BD6A0"/>
                </a:solidFill>
                <a:latin typeface="Aptos Display"/>
              </a:rPr>
              <a:t>30-minute technical story · simple level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834640"/>
            <a:ext cx="6858000" cy="3108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EEF1E8"/>
                </a:solidFill>
                <a:latin typeface="Aptos"/>
              </a:defRPr>
            </a:pPr>
            <a:r>
              <a:t>Goal: understand, control, and optimize inference</a:t>
            </a:r>
          </a:p>
          <a:p>
            <a:pPr>
              <a:spcAft>
                <a:spcPts val="1000"/>
              </a:spcAft>
              <a:defRPr sz="2400">
                <a:solidFill>
                  <a:srgbClr val="EEF1E8"/>
                </a:solidFill>
                <a:latin typeface="Aptos"/>
              </a:defRPr>
            </a:pPr>
            <a:r>
              <a:t>Reference point: llama.cpp</a:t>
            </a:r>
          </a:p>
          <a:p>
            <a:pPr>
              <a:spcAft>
                <a:spcPts val="1000"/>
              </a:spcAft>
              <a:defRPr sz="2400">
                <a:solidFill>
                  <a:srgbClr val="EEF1E8"/>
                </a:solidFill>
                <a:latin typeface="Aptos"/>
              </a:defRPr>
            </a:pPr>
            <a:r>
              <a:t>Method: implement → measure → refute → keep what survives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2011680"/>
            <a:ext cx="4206240" cy="3566160"/>
          </a:xfrm>
          <a:prstGeom prst="roundRect">
            <a:avLst/>
          </a:prstGeom>
          <a:solidFill>
            <a:srgbClr val="1F3744"/>
          </a:solidFill>
          <a:ln w="12700">
            <a:solidFill>
              <a:srgbClr val="364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0" y="2834640"/>
            <a:ext cx="36576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09F53"/>
                </a:solidFill>
                <a:latin typeface="Aptos Display"/>
              </a:rPr>
              <a:t>Build → Measure → Refute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3429000"/>
            <a:ext cx="36576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A6B3AE"/>
                </a:solidFill>
                <a:latin typeface="Aptos Display"/>
              </a:rPr>
              <a:t>Keep only what survives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7726679"/>
            <a:ext cx="32918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758482"/>
                </a:solidFill>
                <a:latin typeface="Aptos Display"/>
              </a:rPr>
              <a:t>Qwen 3.5/3.6 inference engine ·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8229600"/>
          </a:xfrm>
          <a:prstGeom prst="rect">
            <a:avLst/>
          </a:prstGeom>
          <a:solidFill>
            <a:srgbClr val="5B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325880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400" b="1">
                <a:solidFill>
                  <a:srgbClr val="EEF1E8"/>
                </a:solidFill>
                <a:latin typeface="Aptos Display"/>
              </a:rPr>
              <a:t>The Simple Mental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051560"/>
            <a:ext cx="120700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0">
                <a:solidFill>
                  <a:srgbClr val="A6B3AE"/>
                </a:solidFill>
                <a:latin typeface="Aptos Display"/>
              </a:rPr>
              <a:t>LLM inference is repeated matrix math plus state updates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12344400" cy="2011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EF1E8"/>
                </a:solidFill>
                <a:latin typeface="Aptos"/>
              </a:defRPr>
            </a:pPr>
            <a:r>
              <a:t>Text becomes tokens; tokens become vectors</a:t>
            </a:r>
          </a:p>
          <a:p>
            <a:pPr>
              <a:spcAft>
                <a:spcPts val="1000"/>
              </a:spcAft>
              <a:defRPr sz="2000">
                <a:solidFill>
                  <a:srgbClr val="EEF1E8"/>
                </a:solidFill>
                <a:latin typeface="Aptos"/>
              </a:defRPr>
            </a:pPr>
            <a:r>
              <a:t>Each layer transforms vectors and updates memory</a:t>
            </a:r>
          </a:p>
          <a:p>
            <a:pPr>
              <a:spcAft>
                <a:spcPts val="1000"/>
              </a:spcAft>
              <a:defRPr sz="2000">
                <a:solidFill>
                  <a:srgbClr val="EEF1E8"/>
                </a:solidFill>
                <a:latin typeface="Aptos"/>
              </a:defRPr>
            </a:pPr>
            <a:r>
              <a:t>The final vector predicts the next token</a:t>
            </a:r>
          </a:p>
          <a:p>
            <a:pPr>
              <a:spcAft>
                <a:spcPts val="1000"/>
              </a:spcAft>
              <a:defRPr sz="2000">
                <a:solidFill>
                  <a:srgbClr val="EEF1E8"/>
                </a:solidFill>
                <a:latin typeface="Aptos"/>
              </a:defRPr>
            </a:pPr>
            <a:r>
              <a:t>Repeat until generation is complete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743200"/>
            <a:ext cx="1828800" cy="1051560"/>
          </a:xfrm>
          <a:prstGeom prst="roundRect">
            <a:avLst/>
          </a:prstGeom>
          <a:solidFill>
            <a:srgbClr val="1F3744"/>
          </a:solidFill>
          <a:ln w="12700">
            <a:solidFill>
              <a:srgbClr val="364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081528"/>
            <a:ext cx="17373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EEF1E8"/>
                </a:solidFill>
                <a:latin typeface="Aptos Display"/>
              </a:rPr>
              <a:t>Text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0" y="3273552"/>
            <a:ext cx="548640" cy="0"/>
          </a:xfrm>
          <a:prstGeom prst="line">
            <a:avLst/>
          </a:prstGeom>
          <a:ln w="25400">
            <a:solidFill>
              <a:srgbClr val="5BD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291840" y="2743200"/>
            <a:ext cx="1828800" cy="1051560"/>
          </a:xfrm>
          <a:prstGeom prst="roundRect">
            <a:avLst/>
          </a:prstGeom>
          <a:solidFill>
            <a:srgbClr val="1F3744"/>
          </a:solidFill>
          <a:ln w="12700">
            <a:solidFill>
              <a:srgbClr val="364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3081528"/>
            <a:ext cx="17373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EEF1E8"/>
                </a:solidFill>
                <a:latin typeface="Aptos Display"/>
              </a:rPr>
              <a:t>Tokens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120640" y="3273552"/>
            <a:ext cx="548640" cy="0"/>
          </a:xfrm>
          <a:prstGeom prst="line">
            <a:avLst/>
          </a:prstGeom>
          <a:ln w="25400">
            <a:solidFill>
              <a:srgbClr val="5BD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669280" y="2743200"/>
            <a:ext cx="1828800" cy="1051560"/>
          </a:xfrm>
          <a:prstGeom prst="roundRect">
            <a:avLst/>
          </a:prstGeom>
          <a:solidFill>
            <a:srgbClr val="1F3744"/>
          </a:solidFill>
          <a:ln w="12700">
            <a:solidFill>
              <a:srgbClr val="364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06440" y="3081528"/>
            <a:ext cx="17373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EEF1E8"/>
                </a:solidFill>
                <a:latin typeface="Aptos Display"/>
              </a:rPr>
              <a:t>Vectors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498079" y="3273552"/>
            <a:ext cx="548641" cy="0"/>
          </a:xfrm>
          <a:prstGeom prst="line">
            <a:avLst/>
          </a:prstGeom>
          <a:ln w="25400">
            <a:solidFill>
              <a:srgbClr val="5BD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046720" y="2743200"/>
            <a:ext cx="2194560" cy="1051560"/>
          </a:xfrm>
          <a:prstGeom prst="roundRect">
            <a:avLst/>
          </a:prstGeom>
          <a:solidFill>
            <a:srgbClr val="1F3744"/>
          </a:solidFill>
          <a:ln w="12700">
            <a:solidFill>
              <a:srgbClr val="364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3081528"/>
            <a:ext cx="1920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EEF1E8"/>
                </a:solidFill>
                <a:latin typeface="Aptos Display"/>
              </a:rPr>
              <a:t>Layers + State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241280" y="3273552"/>
            <a:ext cx="731520" cy="0"/>
          </a:xfrm>
          <a:prstGeom prst="line">
            <a:avLst/>
          </a:prstGeom>
          <a:ln w="25400">
            <a:solidFill>
              <a:srgbClr val="5BD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972800" y="2743200"/>
            <a:ext cx="1828800" cy="1051560"/>
          </a:xfrm>
          <a:prstGeom prst="roundRect">
            <a:avLst/>
          </a:prstGeom>
          <a:solidFill>
            <a:srgbClr val="1F3744"/>
          </a:solidFill>
          <a:ln w="12700">
            <a:solidFill>
              <a:srgbClr val="364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09960" y="3081528"/>
            <a:ext cx="17373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EEF1E8"/>
                </a:solidFill>
                <a:latin typeface="Aptos Display"/>
              </a:rPr>
              <a:t>Next token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7726679"/>
            <a:ext cx="32918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758482"/>
                </a:solidFill>
                <a:latin typeface="Aptos Display"/>
              </a:rPr>
              <a:t>Qwen 3.5/3.6 inference engine ·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8229600"/>
          </a:xfrm>
          <a:prstGeom prst="rect">
            <a:avLst/>
          </a:prstGeom>
          <a:solidFill>
            <a:srgbClr val="5B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325880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400" b="1">
                <a:solidFill>
                  <a:srgbClr val="EEF1E8"/>
                </a:solidFill>
                <a:latin typeface="Aptos Display"/>
              </a:rPr>
              <a:t>Why Qwen 3.5/3.6 Was Hard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051560"/>
            <a:ext cx="120700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0">
                <a:solidFill>
                  <a:srgbClr val="A6B3AE"/>
                </a:solidFill>
                <a:latin typeface="Aptos Display"/>
              </a:rPr>
              <a:t>It is a hybrid model, not just a plain transformer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12344400" cy="5120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EEF1E8"/>
                </a:solidFill>
                <a:latin typeface="Aptos"/>
              </a:defRPr>
            </a:pPr>
            <a:r>
              <a:t>Full-attention layers use KV cache</a:t>
            </a:r>
          </a:p>
          <a:p>
            <a:pPr>
              <a:spcAft>
                <a:spcPts val="1000"/>
              </a:spcAft>
              <a:defRPr sz="2200">
                <a:solidFill>
                  <a:srgbClr val="EEF1E8"/>
                </a:solidFill>
                <a:latin typeface="Aptos"/>
              </a:defRPr>
            </a:pPr>
            <a:r>
              <a:t>Recurrent DeltaNet-style layers keep compact state</a:t>
            </a:r>
          </a:p>
          <a:p>
            <a:pPr>
              <a:spcAft>
                <a:spcPts val="1000"/>
              </a:spcAft>
              <a:defRPr sz="2200">
                <a:solidFill>
                  <a:srgbClr val="EEF1E8"/>
                </a:solidFill>
                <a:latin typeface="Aptos"/>
              </a:defRPr>
            </a:pPr>
            <a:r>
              <a:t>Large FFN gate/up/down projections dominate traffic</a:t>
            </a:r>
          </a:p>
          <a:p>
            <a:pPr>
              <a:spcAft>
                <a:spcPts val="1000"/>
              </a:spcAft>
              <a:defRPr sz="2200">
                <a:solidFill>
                  <a:srgbClr val="EEF1E8"/>
                </a:solidFill>
                <a:latin typeface="Aptos"/>
              </a:defRPr>
            </a:pPr>
            <a:r>
              <a:t>GGUF quantization: Q4_K, Q5_K, Q6_K, Q8_0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7726679"/>
            <a:ext cx="32918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758482"/>
                </a:solidFill>
                <a:latin typeface="Aptos Display"/>
              </a:rPr>
              <a:t>Qwen 3.5/3.6 inference engine ·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8229600"/>
          </a:xfrm>
          <a:prstGeom prst="rect">
            <a:avLst/>
          </a:prstGeom>
          <a:solidFill>
            <a:srgbClr val="5B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325880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400" b="1">
                <a:solidFill>
                  <a:srgbClr val="EEF1E8"/>
                </a:solidFill>
                <a:latin typeface="Aptos Display"/>
              </a:rPr>
              <a:t>Engine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051560"/>
            <a:ext cx="120700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0">
                <a:solidFill>
                  <a:srgbClr val="A6B3AE"/>
                </a:solidFill>
                <a:latin typeface="Aptos Display"/>
              </a:rPr>
              <a:t>Crystal controls the graph; Metal runs the hot math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80760"/>
            <a:ext cx="1234440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EF1E8"/>
                </a:solidFill>
                <a:latin typeface="Aptos"/>
              </a:defRPr>
            </a:pPr>
            <a:r>
              <a:t>CLI, probes, benchmark harnesses</a:t>
            </a:r>
          </a:p>
          <a:p>
            <a:pPr>
              <a:spcAft>
                <a:spcPts val="1000"/>
              </a:spcAft>
              <a:defRPr sz="1800">
                <a:solidFill>
                  <a:srgbClr val="EEF1E8"/>
                </a:solidFill>
                <a:latin typeface="Aptos"/>
              </a:defRPr>
            </a:pPr>
            <a:r>
              <a:t>CPU/reference path for truth and debugging</a:t>
            </a:r>
          </a:p>
          <a:p>
            <a:pPr>
              <a:spcAft>
                <a:spcPts val="1000"/>
              </a:spcAft>
              <a:defRPr sz="1800">
                <a:solidFill>
                  <a:srgbClr val="EEF1E8"/>
                </a:solidFill>
                <a:latin typeface="Aptos"/>
              </a:defRPr>
            </a:pPr>
            <a:r>
              <a:t>Metal kernels for matmul, attention, DeltaNet, top1, state copy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2103120"/>
            <a:ext cx="8686800" cy="960120"/>
          </a:xfrm>
          <a:prstGeom prst="roundRect">
            <a:avLst/>
          </a:prstGeom>
          <a:solidFill>
            <a:srgbClr val="1F3744"/>
          </a:solidFill>
          <a:ln w="12700">
            <a:solidFill>
              <a:srgbClr val="364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54680" y="2395727"/>
            <a:ext cx="82296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69B4FF"/>
                </a:solidFill>
                <a:latin typeface="Aptos Display"/>
              </a:rPr>
              <a:t>CLI / probes / benchmarks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3337560"/>
            <a:ext cx="8686800" cy="960120"/>
          </a:xfrm>
          <a:prstGeom prst="roundRect">
            <a:avLst/>
          </a:prstGeom>
          <a:solidFill>
            <a:srgbClr val="1F3744"/>
          </a:solidFill>
          <a:ln w="12700">
            <a:solidFill>
              <a:srgbClr val="364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54680" y="3630168"/>
            <a:ext cx="82296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5BD6A0"/>
                </a:solidFill>
                <a:latin typeface="Aptos Display"/>
              </a:rPr>
              <a:t>Crystal reference + scheduler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4572000"/>
            <a:ext cx="8686800" cy="960120"/>
          </a:xfrm>
          <a:prstGeom prst="roundRect">
            <a:avLst/>
          </a:prstGeom>
          <a:solidFill>
            <a:srgbClr val="1F3744"/>
          </a:solidFill>
          <a:ln w="12700">
            <a:solidFill>
              <a:srgbClr val="364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54680" y="4864608"/>
            <a:ext cx="82296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09F53"/>
                </a:solidFill>
                <a:latin typeface="Aptos Display"/>
              </a:rPr>
              <a:t>Metal kernels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7726679"/>
            <a:ext cx="32918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758482"/>
                </a:solidFill>
                <a:latin typeface="Aptos Display"/>
              </a:rPr>
              <a:t>Qwen 3.5/3.6 inference engine ·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8229600"/>
          </a:xfrm>
          <a:prstGeom prst="rect">
            <a:avLst/>
          </a:prstGeom>
          <a:solidFill>
            <a:srgbClr val="5B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325880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400" b="1">
                <a:solidFill>
                  <a:srgbClr val="EEF1E8"/>
                </a:solidFill>
                <a:latin typeface="Aptos Display"/>
              </a:rPr>
              <a:t>Correctness Before Speed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051560"/>
            <a:ext cx="120700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0">
                <a:solidFill>
                  <a:srgbClr val="A6B3AE"/>
                </a:solidFill>
                <a:latin typeface="Aptos Display"/>
              </a:rPr>
              <a:t>One wrong token can change the whole continuation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12344400" cy="5120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EF1E8"/>
                </a:solidFill>
                <a:latin typeface="Aptos"/>
              </a:defRPr>
            </a:pPr>
            <a:r>
              <a:t>Layer-level and vector checks</a:t>
            </a:r>
          </a:p>
          <a:p>
            <a:pPr>
              <a:spcAft>
                <a:spcPts val="1000"/>
              </a:spcAft>
              <a:defRPr sz="2000">
                <a:solidFill>
                  <a:srgbClr val="EEF1E8"/>
                </a:solidFill>
                <a:latin typeface="Aptos"/>
              </a:defRPr>
            </a:pPr>
            <a:r>
              <a:t>Logit/top1 comparisons</a:t>
            </a:r>
          </a:p>
          <a:p>
            <a:pPr>
              <a:spcAft>
                <a:spcPts val="1000"/>
              </a:spcAft>
              <a:defRPr sz="2000">
                <a:solidFill>
                  <a:srgbClr val="EEF1E8"/>
                </a:solidFill>
                <a:latin typeface="Aptos"/>
              </a:defRPr>
            </a:pPr>
            <a:r>
              <a:t>Greedy token parity</a:t>
            </a:r>
          </a:p>
          <a:p>
            <a:pPr>
              <a:spcAft>
                <a:spcPts val="1000"/>
              </a:spcAft>
              <a:defRPr sz="2000">
                <a:solidFill>
                  <a:srgbClr val="EEF1E8"/>
                </a:solidFill>
                <a:latin typeface="Aptos"/>
              </a:defRPr>
            </a:pPr>
            <a:r>
              <a:t>Approximate routes stay opt-in or proposal-only</a:t>
            </a:r>
          </a:p>
          <a:p>
            <a:pPr>
              <a:spcAft>
                <a:spcPts val="1000"/>
              </a:spcAft>
              <a:defRPr sz="2000">
                <a:solidFill>
                  <a:srgbClr val="EEF1E8"/>
                </a:solidFill>
                <a:latin typeface="Aptos"/>
              </a:defRPr>
            </a:pPr>
            <a:r>
              <a:t>Exact verifier decides final tokens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7726679"/>
            <a:ext cx="32918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758482"/>
                </a:solidFill>
                <a:latin typeface="Aptos Display"/>
              </a:rPr>
              <a:t>Qwen 3.5/3.6 inference engine ·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8229600"/>
          </a:xfrm>
          <a:prstGeom prst="rect">
            <a:avLst/>
          </a:prstGeom>
          <a:solidFill>
            <a:srgbClr val="5B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325880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400" b="1">
                <a:solidFill>
                  <a:srgbClr val="EEF1E8"/>
                </a:solidFill>
                <a:latin typeface="Aptos Display"/>
              </a:rPr>
              <a:t>Prefill ≠ Decode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051560"/>
            <a:ext cx="120700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0">
                <a:solidFill>
                  <a:srgbClr val="A6B3AE"/>
                </a:solidFill>
                <a:latin typeface="Aptos Display"/>
              </a:rPr>
              <a:t>The same model has two very different workloads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48840"/>
            <a:ext cx="5943600" cy="3108960"/>
          </a:xfrm>
          <a:prstGeom prst="roundRect">
            <a:avLst/>
          </a:prstGeom>
          <a:solidFill>
            <a:srgbClr val="1F3744"/>
          </a:solidFill>
          <a:ln w="12700">
            <a:solidFill>
              <a:srgbClr val="364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514600"/>
            <a:ext cx="53035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1">
                <a:solidFill>
                  <a:srgbClr val="69B4FF"/>
                </a:solidFill>
                <a:latin typeface="Aptos Display"/>
              </a:rPr>
              <a:t>Prefill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200400"/>
            <a:ext cx="5120640" cy="1280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00" b="0">
                <a:solidFill>
                  <a:srgbClr val="EEF1E8"/>
                </a:solidFill>
                <a:latin typeface="Aptos Display"/>
              </a:rPr>
              <a:t>Many known prompt tokens
Batch GEMM + chunking
Throughput-oriented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2148840"/>
            <a:ext cx="5943600" cy="3108960"/>
          </a:xfrm>
          <a:prstGeom prst="roundRect">
            <a:avLst/>
          </a:prstGeom>
          <a:solidFill>
            <a:srgbClr val="1F3744"/>
          </a:solidFill>
          <a:ln w="12700">
            <a:solidFill>
              <a:srgbClr val="364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2514600"/>
            <a:ext cx="53035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1">
                <a:solidFill>
                  <a:srgbClr val="F09F53"/>
                </a:solidFill>
                <a:latin typeface="Aptos Display"/>
              </a:rPr>
              <a:t>Decode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3200400"/>
            <a:ext cx="5120640" cy="1280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00" b="0">
                <a:solidFill>
                  <a:srgbClr val="EEF1E8"/>
                </a:solidFill>
                <a:latin typeface="Aptos Display"/>
              </a:rPr>
              <a:t>One new token at a time
GEMV + low latency
Synchronization-sensitive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760720"/>
            <a:ext cx="1097280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EEF1E8"/>
                </a:solidFill>
                <a:latin typeface="Aptos"/>
              </a:defRPr>
            </a:pPr>
            <a:r>
              <a:t>Prefill wants batch GEMM and chunking</a:t>
            </a:r>
          </a:p>
          <a:p>
            <a:pPr>
              <a:spcAft>
                <a:spcPts val="1000"/>
              </a:spcAft>
              <a:defRPr sz="1900">
                <a:solidFill>
                  <a:srgbClr val="EEF1E8"/>
                </a:solidFill>
                <a:latin typeface="Aptos"/>
              </a:defRPr>
            </a:pPr>
            <a:r>
              <a:t>Decode wants low latency and fewer synchronizations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7726679"/>
            <a:ext cx="32918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758482"/>
                </a:solidFill>
                <a:latin typeface="Aptos Display"/>
              </a:rPr>
              <a:t>Qwen 3.5/3.6 inference engine ·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8229600"/>
          </a:xfrm>
          <a:prstGeom prst="rect">
            <a:avLst/>
          </a:prstGeom>
          <a:solidFill>
            <a:srgbClr val="5B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325880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400" b="1">
                <a:solidFill>
                  <a:srgbClr val="EEF1E8"/>
                </a:solidFill>
                <a:latin typeface="Aptos Display"/>
              </a:rPr>
              <a:t>Prefill: What Worked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051560"/>
            <a:ext cx="120700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0">
                <a:solidFill>
                  <a:srgbClr val="A6B3AE"/>
                </a:solidFill>
                <a:latin typeface="Aptos Display"/>
              </a:rPr>
              <a:t>Move from token-by-token to GPU-resident chunks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64008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EF1E8"/>
                </a:solidFill>
                <a:latin typeface="Aptos"/>
              </a:defRPr>
            </a:pPr>
            <a:r>
              <a:t>Chunked recurrent prefill on Metal</a:t>
            </a:r>
          </a:p>
          <a:p>
            <a:pPr>
              <a:spcAft>
                <a:spcPts val="1000"/>
              </a:spcAft>
              <a:defRPr sz="2000">
                <a:solidFill>
                  <a:srgbClr val="EEF1E8"/>
                </a:solidFill>
                <a:latin typeface="Aptos"/>
              </a:defRPr>
            </a:pPr>
            <a:r>
              <a:t>Q4/Q5/Q6 batch GEMM for prompt tokens</a:t>
            </a:r>
          </a:p>
          <a:p>
            <a:pPr>
              <a:spcAft>
                <a:spcPts val="1000"/>
              </a:spcAft>
              <a:defRPr sz="2000">
                <a:solidFill>
                  <a:srgbClr val="EEF1E8"/>
                </a:solidFill>
                <a:latin typeface="Aptos"/>
              </a:defRPr>
            </a:pPr>
            <a:r>
              <a:t>Skip unnecessary final-output work</a:t>
            </a:r>
          </a:p>
          <a:p>
            <a:pPr>
              <a:spcAft>
                <a:spcPts val="1000"/>
              </a:spcAft>
              <a:defRPr sz="2000">
                <a:solidFill>
                  <a:srgbClr val="EEF1E8"/>
                </a:solidFill>
                <a:latin typeface="Aptos"/>
              </a:defRPr>
            </a:pPr>
            <a:r>
              <a:t>Keep consecutive recurrent layers on GPU</a:t>
            </a:r>
          </a:p>
          <a:p>
            <a:pPr>
              <a:spcAft>
                <a:spcPts val="1000"/>
              </a:spcAft>
              <a:defRPr sz="2000">
                <a:solidFill>
                  <a:srgbClr val="EEF1E8"/>
                </a:solidFill>
                <a:latin typeface="Aptos"/>
              </a:defRPr>
            </a:pPr>
            <a:r>
              <a:t>Use attribution to find hot tensor shapes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874519"/>
            <a:ext cx="5029200" cy="1143000"/>
          </a:xfrm>
          <a:prstGeom prst="roundRect">
            <a:avLst/>
          </a:prstGeom>
          <a:solidFill>
            <a:srgbClr val="1F3744"/>
          </a:solidFill>
          <a:ln w="12700">
            <a:solidFill>
              <a:srgbClr val="364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2039112"/>
            <a:ext cx="45720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1">
                <a:solidFill>
                  <a:srgbClr val="5BD6A0"/>
                </a:solidFill>
                <a:latin typeface="Aptos Display"/>
              </a:rPr>
              <a:t>~52.9 tok/s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587752"/>
            <a:ext cx="45720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0">
                <a:solidFill>
                  <a:srgbClr val="A6B3AE"/>
                </a:solidFill>
                <a:latin typeface="Aptos Display"/>
              </a:rPr>
              <a:t>early pp64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3291839"/>
            <a:ext cx="5029200" cy="1143000"/>
          </a:xfrm>
          <a:prstGeom prst="roundRect">
            <a:avLst/>
          </a:prstGeom>
          <a:solidFill>
            <a:srgbClr val="1F3744"/>
          </a:solidFill>
          <a:ln w="12700">
            <a:solidFill>
              <a:srgbClr val="364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79" y="3456432"/>
            <a:ext cx="45720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1">
                <a:solidFill>
                  <a:srgbClr val="5BD6A0"/>
                </a:solidFill>
                <a:latin typeface="Aptos Display"/>
              </a:rPr>
              <a:t>~358 tok/s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4005072"/>
            <a:ext cx="45720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0">
                <a:solidFill>
                  <a:srgbClr val="A6B3AE"/>
                </a:solidFill>
                <a:latin typeface="Aptos Display"/>
              </a:rPr>
              <a:t>after chunking + batching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4709159"/>
            <a:ext cx="5029200" cy="1143000"/>
          </a:xfrm>
          <a:prstGeom prst="roundRect">
            <a:avLst/>
          </a:prstGeom>
          <a:solidFill>
            <a:srgbClr val="1F3744"/>
          </a:solidFill>
          <a:ln w="12700">
            <a:solidFill>
              <a:srgbClr val="364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4873751"/>
            <a:ext cx="45720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1">
                <a:solidFill>
                  <a:srgbClr val="5BD6A0"/>
                </a:solidFill>
                <a:latin typeface="Aptos Display"/>
              </a:rPr>
              <a:t>~450 tok/s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5422392"/>
            <a:ext cx="45720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0">
                <a:solidFill>
                  <a:srgbClr val="A6B3AE"/>
                </a:solidFill>
                <a:latin typeface="Aptos Display"/>
              </a:rPr>
              <a:t>prepared-state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7726679"/>
            <a:ext cx="32918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758482"/>
                </a:solidFill>
                <a:latin typeface="Aptos Display"/>
              </a:rPr>
              <a:t>Qwen 3.5/3.6 inference engine ·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8229600"/>
          </a:xfrm>
          <a:prstGeom prst="rect">
            <a:avLst/>
          </a:prstGeom>
          <a:solidFill>
            <a:srgbClr val="5B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325880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400" b="1">
                <a:solidFill>
                  <a:srgbClr val="EEF1E8"/>
                </a:solidFill>
                <a:latin typeface="Aptos Display"/>
              </a:rPr>
              <a:t>Decode: What Worked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051560"/>
            <a:ext cx="120700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0">
                <a:solidFill>
                  <a:srgbClr val="A6B3AE"/>
                </a:solidFill>
                <a:latin typeface="Aptos Display"/>
              </a:rPr>
              <a:t>Hide overhead and avoid unnecessary work per token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64008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EF1E8"/>
                </a:solidFill>
                <a:latin typeface="Aptos"/>
              </a:defRPr>
            </a:pPr>
            <a:r>
              <a:t>Wave scheduling groups layer work</a:t>
            </a:r>
          </a:p>
          <a:p>
            <a:pPr>
              <a:spcAft>
                <a:spcPts val="1000"/>
              </a:spcAft>
              <a:defRPr sz="2000">
                <a:solidFill>
                  <a:srgbClr val="EEF1E8"/>
                </a:solidFill>
                <a:latin typeface="Aptos"/>
              </a:defRPr>
            </a:pPr>
            <a:r>
              <a:t>Fused greedy top1 avoids full logits when possible</a:t>
            </a:r>
          </a:p>
          <a:p>
            <a:pPr>
              <a:spcAft>
                <a:spcPts val="1000"/>
              </a:spcAft>
              <a:defRPr sz="2000">
                <a:solidFill>
                  <a:srgbClr val="EEF1E8"/>
                </a:solidFill>
                <a:latin typeface="Aptos"/>
              </a:defRPr>
            </a:pPr>
            <a:r>
              <a:t>Small exact fusions remove extra kernels</a:t>
            </a:r>
          </a:p>
          <a:p>
            <a:pPr>
              <a:spcAft>
                <a:spcPts val="1000"/>
              </a:spcAft>
              <a:defRPr sz="2000">
                <a:solidFill>
                  <a:srgbClr val="EEF1E8"/>
                </a:solidFill>
                <a:latin typeface="Aptos"/>
              </a:defRPr>
            </a:pPr>
            <a:r>
              <a:t>State preparation avoids first-touch latency</a:t>
            </a:r>
          </a:p>
          <a:p>
            <a:pPr>
              <a:spcAft>
                <a:spcPts val="1000"/>
              </a:spcAft>
              <a:defRPr sz="2000">
                <a:solidFill>
                  <a:srgbClr val="EEF1E8"/>
                </a:solidFill>
                <a:latin typeface="Aptos"/>
              </a:defRPr>
            </a:pPr>
            <a:r>
              <a:t>N-gram/speculative paths help on matching workloads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874519"/>
            <a:ext cx="5029200" cy="1143000"/>
          </a:xfrm>
          <a:prstGeom prst="roundRect">
            <a:avLst/>
          </a:prstGeom>
          <a:solidFill>
            <a:srgbClr val="1F3744"/>
          </a:solidFill>
          <a:ln w="12700">
            <a:solidFill>
              <a:srgbClr val="364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2039112"/>
            <a:ext cx="45720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1">
                <a:solidFill>
                  <a:srgbClr val="5BD6A0"/>
                </a:solidFill>
                <a:latin typeface="Aptos Display"/>
              </a:rPr>
              <a:t>+4–5%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587752"/>
            <a:ext cx="45720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0">
                <a:solidFill>
                  <a:srgbClr val="A6B3AE"/>
                </a:solidFill>
                <a:latin typeface="Aptos Display"/>
              </a:rPr>
              <a:t>local decode snapshots vs llama.cpp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3291839"/>
            <a:ext cx="5029200" cy="1143000"/>
          </a:xfrm>
          <a:prstGeom prst="roundRect">
            <a:avLst/>
          </a:prstGeom>
          <a:solidFill>
            <a:srgbClr val="1F3744"/>
          </a:solidFill>
          <a:ln w="12700">
            <a:solidFill>
              <a:srgbClr val="364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79" y="3456432"/>
            <a:ext cx="45720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1">
                <a:solidFill>
                  <a:srgbClr val="5BD6A0"/>
                </a:solidFill>
                <a:latin typeface="Aptos Display"/>
              </a:rPr>
              <a:t>~9–14 ms/tok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4005072"/>
            <a:ext cx="45720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0">
                <a:solidFill>
                  <a:srgbClr val="A6B3AE"/>
                </a:solidFill>
                <a:latin typeface="Aptos Display"/>
              </a:rPr>
              <a:t>repeat-heavy n-gram/spec routes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4709159"/>
            <a:ext cx="5029200" cy="1143000"/>
          </a:xfrm>
          <a:prstGeom prst="roundRect">
            <a:avLst/>
          </a:prstGeom>
          <a:solidFill>
            <a:srgbClr val="1F3744"/>
          </a:solidFill>
          <a:ln w="12700">
            <a:solidFill>
              <a:srgbClr val="364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4873751"/>
            <a:ext cx="45720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1">
                <a:solidFill>
                  <a:srgbClr val="5BD6A0"/>
                </a:solidFill>
                <a:latin typeface="Aptos Display"/>
              </a:rPr>
              <a:t>exact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5422392"/>
            <a:ext cx="45720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0">
                <a:solidFill>
                  <a:srgbClr val="A6B3AE"/>
                </a:solidFill>
                <a:latin typeface="Aptos Display"/>
              </a:rPr>
              <a:t>verifier-gated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7726679"/>
            <a:ext cx="32918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758482"/>
                </a:solidFill>
                <a:latin typeface="Aptos Display"/>
              </a:rPr>
              <a:t>Qwen 3.5/3.6 inference engine ·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8229600"/>
          </a:xfrm>
          <a:prstGeom prst="rect">
            <a:avLst/>
          </a:prstGeom>
          <a:solidFill>
            <a:srgbClr val="5B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325880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400" b="1">
                <a:solidFill>
                  <a:srgbClr val="EEF1E8"/>
                </a:solidFill>
                <a:latin typeface="Aptos Display"/>
              </a:rPr>
              <a:t>Speculative Decoding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051560"/>
            <a:ext cx="120700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0">
                <a:solidFill>
                  <a:srgbClr val="A6B3AE"/>
                </a:solidFill>
                <a:latin typeface="Aptos Display"/>
              </a:rPr>
              <a:t>Draft fast, verify exactly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257800"/>
            <a:ext cx="12070080" cy="1463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EEF1E8"/>
                </a:solidFill>
                <a:latin typeface="Aptos"/>
              </a:defRPr>
            </a:pPr>
            <a:r>
              <a:t>Draft proposes several tokens</a:t>
            </a:r>
          </a:p>
          <a:p>
            <a:pPr>
              <a:spcAft>
                <a:spcPts val="1000"/>
              </a:spcAft>
              <a:defRPr sz="1900">
                <a:solidFill>
                  <a:srgbClr val="EEF1E8"/>
                </a:solidFill>
                <a:latin typeface="Aptos"/>
              </a:defRPr>
            </a:pPr>
            <a:r>
              <a:t>Exact target verifies the chunk</a:t>
            </a:r>
          </a:p>
          <a:p>
            <a:pPr>
              <a:spcAft>
                <a:spcPts val="1000"/>
              </a:spcAft>
              <a:defRPr sz="1900">
                <a:solidFill>
                  <a:srgbClr val="EEF1E8"/>
                </a:solidFill>
                <a:latin typeface="Aptos"/>
              </a:defRPr>
            </a:pPr>
            <a:r>
              <a:t>Accept full prefix when it matches</a:t>
            </a:r>
          </a:p>
          <a:p>
            <a:pPr>
              <a:spcAft>
                <a:spcPts val="1000"/>
              </a:spcAft>
              <a:defRPr sz="1900">
                <a:solidFill>
                  <a:srgbClr val="EEF1E8"/>
                </a:solidFill>
                <a:latin typeface="Aptos"/>
              </a:defRPr>
            </a:pPr>
            <a:r>
              <a:t>On mismatch: correct one token and continue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743200"/>
            <a:ext cx="2286000" cy="1051560"/>
          </a:xfrm>
          <a:prstGeom prst="roundRect">
            <a:avLst/>
          </a:prstGeom>
          <a:solidFill>
            <a:srgbClr val="1F3744"/>
          </a:solidFill>
          <a:ln w="12700">
            <a:solidFill>
              <a:srgbClr val="364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3081528"/>
            <a:ext cx="2057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69B4FF"/>
                </a:solidFill>
                <a:latin typeface="Aptos Display"/>
              </a:rPr>
              <a:t>Draft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2743200"/>
            <a:ext cx="2286000" cy="1051560"/>
          </a:xfrm>
          <a:prstGeom prst="roundRect">
            <a:avLst/>
          </a:prstGeom>
          <a:solidFill>
            <a:srgbClr val="1F3744"/>
          </a:solidFill>
          <a:ln w="12700">
            <a:solidFill>
              <a:srgbClr val="364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67328" y="3081528"/>
            <a:ext cx="2057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09F53"/>
                </a:solidFill>
                <a:latin typeface="Aptos Display"/>
              </a:rPr>
              <a:t>Candidates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2743200"/>
            <a:ext cx="2286000" cy="1051560"/>
          </a:xfrm>
          <a:prstGeom prst="roundRect">
            <a:avLst/>
          </a:prstGeom>
          <a:solidFill>
            <a:srgbClr val="1F3744"/>
          </a:solidFill>
          <a:ln w="12700">
            <a:solidFill>
              <a:srgbClr val="364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4848" y="3081528"/>
            <a:ext cx="2057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5BD6A0"/>
                </a:solidFill>
                <a:latin typeface="Aptos Display"/>
              </a:rPr>
              <a:t>Exact verifier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80" y="2743200"/>
            <a:ext cx="2286000" cy="1051560"/>
          </a:xfrm>
          <a:prstGeom prst="roundRect">
            <a:avLst/>
          </a:prstGeom>
          <a:solidFill>
            <a:srgbClr val="1F3744"/>
          </a:solidFill>
          <a:ln w="12700">
            <a:solidFill>
              <a:srgbClr val="364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51007" y="3081528"/>
            <a:ext cx="2057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EEF1E8"/>
                </a:solidFill>
                <a:latin typeface="Aptos Display"/>
              </a:rPr>
              <a:t>Accept / Correct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00400" y="3273552"/>
            <a:ext cx="457200" cy="0"/>
          </a:xfrm>
          <a:prstGeom prst="line">
            <a:avLst/>
          </a:prstGeom>
          <a:ln w="25400">
            <a:solidFill>
              <a:srgbClr val="5BD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943600" y="3273552"/>
            <a:ext cx="731520" cy="0"/>
          </a:xfrm>
          <a:prstGeom prst="line">
            <a:avLst/>
          </a:prstGeom>
          <a:ln w="25400">
            <a:solidFill>
              <a:srgbClr val="5BD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961120" y="3273552"/>
            <a:ext cx="1280160" cy="0"/>
          </a:xfrm>
          <a:prstGeom prst="line">
            <a:avLst/>
          </a:prstGeom>
          <a:ln w="25400">
            <a:solidFill>
              <a:srgbClr val="5BD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920240" y="4572000"/>
            <a:ext cx="1078992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A6B3AE"/>
                </a:solidFill>
                <a:latin typeface="Aptos Display"/>
              </a:rPr>
              <a:t>Final output remains exact because the target model verifies the accepted tokens.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7726679"/>
            <a:ext cx="32918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758482"/>
                </a:solidFill>
                <a:latin typeface="Aptos Display"/>
              </a:rPr>
              <a:t>Qwen 3.5/3.6 inference engine ·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8229600"/>
          </a:xfrm>
          <a:prstGeom prst="rect">
            <a:avLst/>
          </a:prstGeom>
          <a:solidFill>
            <a:srgbClr val="5B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325880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400" b="1">
                <a:solidFill>
                  <a:srgbClr val="EEF1E8"/>
                </a:solidFill>
                <a:latin typeface="Aptos Display"/>
              </a:rPr>
              <a:t>Mathematical Shortcuts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051560"/>
            <a:ext cx="120700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0">
                <a:solidFill>
                  <a:srgbClr val="A6B3AE"/>
                </a:solidFill>
                <a:latin typeface="Aptos Display"/>
              </a:rPr>
              <a:t>Do less proposal work, but keep exact 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12344400" cy="5120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EEF1E8"/>
                </a:solidFill>
                <a:latin typeface="Aptos"/>
              </a:defRPr>
            </a:pPr>
            <a:r>
              <a:t>Projected-K / low-rank DeltaNet state</a:t>
            </a:r>
          </a:p>
          <a:p>
            <a:pPr>
              <a:spcAft>
                <a:spcPts val="1000"/>
              </a:spcAft>
              <a:defRPr sz="2200">
                <a:solidFill>
                  <a:srgbClr val="EEF1E8"/>
                </a:solidFill>
                <a:latin typeface="Aptos"/>
              </a:defRPr>
            </a:pPr>
            <a:r>
              <a:t>PCA-updown and block surrogate ideas</a:t>
            </a:r>
          </a:p>
          <a:p>
            <a:pPr>
              <a:spcAft>
                <a:spcPts val="1000"/>
              </a:spcAft>
              <a:defRPr sz="2200">
                <a:solidFill>
                  <a:srgbClr val="EEF1E8"/>
                </a:solidFill>
                <a:latin typeface="Aptos"/>
              </a:defRPr>
            </a:pPr>
            <a:r>
              <a:t>MTP / multi-token prediction experiments</a:t>
            </a:r>
          </a:p>
          <a:p>
            <a:pPr>
              <a:spcAft>
                <a:spcPts val="1000"/>
              </a:spcAft>
              <a:defRPr sz="2200">
                <a:solidFill>
                  <a:srgbClr val="EEF1E8"/>
                </a:solidFill>
                <a:latin typeface="Aptos"/>
              </a:defRPr>
            </a:pPr>
            <a:r>
              <a:t>Raw-Q8 CUDA/DP4A as proposal-only until verified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7726679"/>
            <a:ext cx="32918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758482"/>
                </a:solidFill>
                <a:latin typeface="Aptos Display"/>
              </a:rPr>
              <a:t>Qwen 3.5/3.6 inference engine ·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8229600"/>
          </a:xfrm>
          <a:prstGeom prst="rect">
            <a:avLst/>
          </a:prstGeom>
          <a:solidFill>
            <a:srgbClr val="5B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325880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400" b="1">
                <a:solidFill>
                  <a:srgbClr val="EEF1E8"/>
                </a:solidFill>
                <a:latin typeface="Aptos Display"/>
              </a:rPr>
              <a:t>The Workflow Was The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051560"/>
            <a:ext cx="120700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0">
                <a:solidFill>
                  <a:srgbClr val="A6B3AE"/>
                </a:solidFill>
                <a:latin typeface="Aptos Display"/>
              </a:rPr>
              <a:t>Structured skepticism kept us from chasing noise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12344400" cy="5120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EF1E8"/>
                </a:solidFill>
                <a:latin typeface="Aptos"/>
              </a:defRPr>
            </a:pPr>
            <a:r>
              <a:t>Landmark log: wins, failures, assumptions</a:t>
            </a:r>
          </a:p>
          <a:p>
            <a:pPr>
              <a:spcAft>
                <a:spcPts val="1000"/>
              </a:spcAft>
              <a:defRPr sz="2000">
                <a:solidFill>
                  <a:srgbClr val="EEF1E8"/>
                </a:solidFill>
                <a:latin typeface="Aptos"/>
              </a:defRPr>
            </a:pPr>
            <a:r>
              <a:t>Paired A/B instead of one-off timings</a:t>
            </a:r>
          </a:p>
          <a:p>
            <a:pPr>
              <a:spcAft>
                <a:spcPts val="1000"/>
              </a:spcAft>
              <a:defRPr sz="2000">
                <a:solidFill>
                  <a:srgbClr val="EEF1E8"/>
                </a:solidFill>
                <a:latin typeface="Aptos"/>
              </a:defRPr>
            </a:pPr>
            <a:r>
              <a:t>Compare against llama.cpp on same workload</a:t>
            </a:r>
          </a:p>
          <a:p>
            <a:pPr>
              <a:spcAft>
                <a:spcPts val="1000"/>
              </a:spcAft>
              <a:defRPr sz="2000">
                <a:solidFill>
                  <a:srgbClr val="EEF1E8"/>
                </a:solidFill>
                <a:latin typeface="Aptos"/>
              </a:defRPr>
            </a:pPr>
            <a:r>
              <a:t>Record refutations to avoid loops</a:t>
            </a:r>
          </a:p>
          <a:p>
            <a:pPr>
              <a:spcAft>
                <a:spcPts val="1000"/>
              </a:spcAft>
              <a:defRPr sz="2000">
                <a:solidFill>
                  <a:srgbClr val="EEF1E8"/>
                </a:solidFill>
                <a:latin typeface="Aptos"/>
              </a:defRPr>
            </a:pPr>
            <a:r>
              <a:t>Optimize after attribution names the wall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7726679"/>
            <a:ext cx="32918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758482"/>
                </a:solidFill>
                <a:latin typeface="Aptos Display"/>
              </a:rPr>
              <a:t>Qwen 3.5/3.6 inference engine ·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8229600"/>
          </a:xfrm>
          <a:prstGeom prst="rect">
            <a:avLst/>
          </a:prstGeom>
          <a:solidFill>
            <a:srgbClr val="5B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325880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400" b="1">
                <a:solidFill>
                  <a:srgbClr val="EEF1E8"/>
                </a:solidFill>
                <a:latin typeface="Aptos Display"/>
              </a:rPr>
              <a:t>Useful Refutations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051560"/>
            <a:ext cx="120700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0">
                <a:solidFill>
                  <a:srgbClr val="A6B3AE"/>
                </a:solidFill>
                <a:latin typeface="Aptos Display"/>
              </a:rPr>
              <a:t>A failed experiment is progress if it narrows the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12344400" cy="5120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EF1E8"/>
                </a:solidFill>
                <a:latin typeface="Aptos"/>
              </a:defRPr>
            </a:pPr>
            <a:r>
              <a:t>Microbench wins sometimes regressed full prefill</a:t>
            </a:r>
          </a:p>
          <a:p>
            <a:pPr>
              <a:spcAft>
                <a:spcPts val="1000"/>
              </a:spcAft>
              <a:defRPr sz="2000">
                <a:solidFill>
                  <a:srgbClr val="EEF1E8"/>
                </a:solidFill>
                <a:latin typeface="Aptos"/>
              </a:defRPr>
            </a:pPr>
            <a:r>
              <a:t>Some fusions saved dispatches but hurt occupancy</a:t>
            </a:r>
          </a:p>
          <a:p>
            <a:pPr>
              <a:spcAft>
                <a:spcPts val="1000"/>
              </a:spcAft>
              <a:defRPr sz="2000">
                <a:solidFill>
                  <a:srgbClr val="EEF1E8"/>
                </a:solidFill>
                <a:latin typeface="Aptos"/>
              </a:defRPr>
            </a:pPr>
            <a:r>
              <a:t>CPU draft lost to sync + body cost</a:t>
            </a:r>
          </a:p>
          <a:p>
            <a:pPr>
              <a:spcAft>
                <a:spcPts val="1000"/>
              </a:spcAft>
              <a:defRPr sz="2000">
                <a:solidFill>
                  <a:srgbClr val="EEF1E8"/>
                </a:solidFill>
                <a:latin typeface="Aptos"/>
              </a:defRPr>
            </a:pPr>
            <a:r>
              <a:t>Fast full-row verifier could flip close logits</a:t>
            </a:r>
          </a:p>
          <a:p>
            <a:pPr>
              <a:spcAft>
                <a:spcPts val="1000"/>
              </a:spcAft>
              <a:defRPr sz="2000">
                <a:solidFill>
                  <a:srgbClr val="EEF1E8"/>
                </a:solidFill>
                <a:latin typeface="Aptos"/>
              </a:defRPr>
            </a:pPr>
            <a:r>
              <a:t>GPU n-gram lookup was not the wall yet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7726679"/>
            <a:ext cx="32918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758482"/>
                </a:solidFill>
                <a:latin typeface="Aptos Display"/>
              </a:rPr>
              <a:t>Qwen 3.5/3.6 inference engine ·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8229600"/>
          </a:xfrm>
          <a:prstGeom prst="rect">
            <a:avLst/>
          </a:prstGeom>
          <a:solidFill>
            <a:srgbClr val="5B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325880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400" b="1">
                <a:solidFill>
                  <a:srgbClr val="EEF1E8"/>
                </a:solidFill>
                <a:latin typeface="Aptos Display"/>
              </a:rPr>
              <a:t>Where We Stand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051560"/>
            <a:ext cx="120700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0">
                <a:solidFill>
                  <a:srgbClr val="A6B3AE"/>
                </a:solidFill>
                <a:latin typeface="Aptos Display"/>
              </a:rPr>
              <a:t>Mixed status, honest claims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12344400" cy="5120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EF1E8"/>
                </a:solidFill>
                <a:latin typeface="Aptos"/>
              </a:defRPr>
            </a:pPr>
            <a:r>
              <a:t>llama.cpp remains a strong baseline</a:t>
            </a:r>
          </a:p>
          <a:p>
            <a:pPr>
              <a:spcAft>
                <a:spcPts val="1000"/>
              </a:spcAft>
              <a:defRPr sz="2000">
                <a:solidFill>
                  <a:srgbClr val="EEF1E8"/>
                </a:solidFill>
                <a:latin typeface="Aptos"/>
              </a:defRPr>
            </a:pPr>
            <a:r>
              <a:t>Native decode has matched or beaten local snapshots</a:t>
            </a:r>
          </a:p>
          <a:p>
            <a:pPr>
              <a:spcAft>
                <a:spcPts val="1000"/>
              </a:spcAft>
              <a:defRPr sz="2000">
                <a:solidFill>
                  <a:srgbClr val="EEF1E8"/>
                </a:solidFill>
                <a:latin typeface="Aptos"/>
              </a:defRPr>
            </a:pPr>
            <a:r>
              <a:t>First-run prefill is close and measurement-sensitive</a:t>
            </a:r>
          </a:p>
          <a:p>
            <a:pPr>
              <a:spcAft>
                <a:spcPts val="1000"/>
              </a:spcAft>
              <a:defRPr sz="2000">
                <a:solidFill>
                  <a:srgbClr val="EEF1E8"/>
                </a:solidFill>
                <a:latin typeface="Aptos"/>
              </a:defRPr>
            </a:pPr>
            <a:r>
              <a:t>Prompt-cache and n-gram routes can win on right workloads</a:t>
            </a:r>
          </a:p>
          <a:p>
            <a:pPr>
              <a:spcAft>
                <a:spcPts val="1000"/>
              </a:spcAft>
              <a:defRPr sz="2000">
                <a:solidFill>
                  <a:srgbClr val="EEF1E8"/>
                </a:solidFill>
                <a:latin typeface="Aptos"/>
              </a:defRPr>
            </a:pPr>
            <a:r>
              <a:t>vLLM/MLX teach scheduler and graph-boundary lessons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7726679"/>
            <a:ext cx="32918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758482"/>
                </a:solidFill>
                <a:latin typeface="Aptos Display"/>
              </a:rPr>
              <a:t>Qwen 3.5/3.6 inference engine ·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8229600"/>
          </a:xfrm>
          <a:prstGeom prst="rect">
            <a:avLst/>
          </a:prstGeom>
          <a:solidFill>
            <a:srgbClr val="5B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325880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400" b="1">
                <a:solidFill>
                  <a:srgbClr val="EEF1E8"/>
                </a:solidFill>
                <a:latin typeface="Aptos Display"/>
              </a:rPr>
              <a:t>Next Frontier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051560"/>
            <a:ext cx="120700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0">
                <a:solidFill>
                  <a:srgbClr val="A6B3AE"/>
                </a:solidFill>
                <a:latin typeface="Aptos Display"/>
              </a:rPr>
              <a:t>Turn observability into the next speed 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12344400" cy="5120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EEF1E8"/>
                </a:solidFill>
                <a:latin typeface="Aptos"/>
              </a:defRPr>
            </a:pPr>
            <a:r>
              <a:t>Quiet paired operator timing vs llama.cpp Metal</a:t>
            </a:r>
          </a:p>
          <a:p>
            <a:pPr>
              <a:spcAft>
                <a:spcPts val="1000"/>
              </a:spcAft>
              <a:defRPr sz="2200">
                <a:solidFill>
                  <a:srgbClr val="EEF1E8"/>
                </a:solidFill>
                <a:latin typeface="Aptos"/>
              </a:defRPr>
            </a:pPr>
            <a:r>
              <a:t>Focus hot Q4_K 4096×12288 and recurrent Q5/Q6 shapes</a:t>
            </a:r>
          </a:p>
          <a:p>
            <a:pPr>
              <a:spcAft>
                <a:spcPts val="1000"/>
              </a:spcAft>
              <a:defRPr sz="2200">
                <a:solidFill>
                  <a:srgbClr val="EEF1E8"/>
                </a:solidFill>
                <a:latin typeface="Aptos"/>
              </a:defRPr>
            </a:pPr>
            <a:r>
              <a:t>Continue exact n-gram/router policy work</a:t>
            </a:r>
          </a:p>
          <a:p>
            <a:pPr>
              <a:spcAft>
                <a:spcPts val="1000"/>
              </a:spcAft>
              <a:defRPr sz="2200">
                <a:solidFill>
                  <a:srgbClr val="EEF1E8"/>
                </a:solidFill>
                <a:latin typeface="Aptos"/>
              </a:defRPr>
            </a:pPr>
            <a:r>
              <a:t>Keep approximate routes proposal-only until verified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7726679"/>
            <a:ext cx="32918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758482"/>
                </a:solidFill>
                <a:latin typeface="Aptos Display"/>
              </a:rPr>
              <a:t>Qwen 3.5/3.6 inference engine ·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8229600"/>
          </a:xfrm>
          <a:prstGeom prst="rect">
            <a:avLst/>
          </a:prstGeom>
          <a:solidFill>
            <a:srgbClr val="5B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325880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400" b="1">
                <a:solidFill>
                  <a:srgbClr val="EEF1E8"/>
                </a:solidFill>
                <a:latin typeface="Aptos Display"/>
              </a:rPr>
              <a:t>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051560"/>
            <a:ext cx="120700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0">
                <a:solidFill>
                  <a:srgbClr val="A6B3AE"/>
                </a:solidFill>
                <a:latin typeface="Aptos Display"/>
              </a:rPr>
              <a:t>Five lessons from building the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3657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00" b="1">
                <a:solidFill>
                  <a:srgbClr val="5BD6A0"/>
                </a:solidFill>
                <a:latin typeface="Aptos Display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00200" y="1828800"/>
            <a:ext cx="11521440" cy="640080"/>
          </a:xfrm>
          <a:prstGeom prst="roundRect">
            <a:avLst/>
          </a:prstGeom>
          <a:solidFill>
            <a:srgbClr val="1F3744"/>
          </a:solidFill>
          <a:ln w="12700">
            <a:solidFill>
              <a:srgbClr val="364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4519" y="1993392"/>
            <a:ext cx="108813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EEF1E8"/>
                </a:solidFill>
                <a:latin typeface="Aptos Display"/>
              </a:rPr>
              <a:t>Correctness gates first; speed second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743200"/>
            <a:ext cx="3657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00" b="1">
                <a:solidFill>
                  <a:srgbClr val="5BD6A0"/>
                </a:solidFill>
                <a:latin typeface="Aptos Display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00200" y="2697480"/>
            <a:ext cx="11521440" cy="640080"/>
          </a:xfrm>
          <a:prstGeom prst="roundRect">
            <a:avLst/>
          </a:prstGeom>
          <a:solidFill>
            <a:srgbClr val="1F3744"/>
          </a:solidFill>
          <a:ln w="12700">
            <a:solidFill>
              <a:srgbClr val="364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74519" y="2862072"/>
            <a:ext cx="108813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EEF1E8"/>
                </a:solidFill>
                <a:latin typeface="Aptos Display"/>
              </a:rPr>
              <a:t>Prefill and decode are different products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611880"/>
            <a:ext cx="3657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00" b="1">
                <a:solidFill>
                  <a:srgbClr val="5BD6A0"/>
                </a:solidFill>
                <a:latin typeface="Aptos Display"/>
              </a:rP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00200" y="3566160"/>
            <a:ext cx="11521440" cy="640080"/>
          </a:xfrm>
          <a:prstGeom prst="roundRect">
            <a:avLst/>
          </a:prstGeom>
          <a:solidFill>
            <a:srgbClr val="1F3744"/>
          </a:solidFill>
          <a:ln w="12700">
            <a:solidFill>
              <a:srgbClr val="364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74519" y="3730752"/>
            <a:ext cx="108813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EEF1E8"/>
                </a:solidFill>
                <a:latin typeface="Aptos Display"/>
              </a:rPr>
              <a:t>Data movement often dominates arithmetic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480560"/>
            <a:ext cx="3657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00" b="1">
                <a:solidFill>
                  <a:srgbClr val="5BD6A0"/>
                </a:solidFill>
                <a:latin typeface="Aptos Display"/>
              </a:rP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00200" y="4434840"/>
            <a:ext cx="11521440" cy="640080"/>
          </a:xfrm>
          <a:prstGeom prst="roundRect">
            <a:avLst/>
          </a:prstGeom>
          <a:solidFill>
            <a:srgbClr val="1F3744"/>
          </a:solidFill>
          <a:ln w="12700">
            <a:solidFill>
              <a:srgbClr val="364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74519" y="4599432"/>
            <a:ext cx="108813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EEF1E8"/>
                </a:solidFill>
                <a:latin typeface="Aptos Display"/>
              </a:rPr>
              <a:t>Speculation helps only when economics line 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5349240"/>
            <a:ext cx="3657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00" b="1">
                <a:solidFill>
                  <a:srgbClr val="5BD6A0"/>
                </a:solidFill>
                <a:latin typeface="Aptos Display"/>
              </a:rPr>
              <a:t>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00200" y="5303520"/>
            <a:ext cx="11521440" cy="640080"/>
          </a:xfrm>
          <a:prstGeom prst="roundRect">
            <a:avLst/>
          </a:prstGeom>
          <a:solidFill>
            <a:srgbClr val="1F3744"/>
          </a:solidFill>
          <a:ln w="12700">
            <a:solidFill>
              <a:srgbClr val="364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74519" y="5468112"/>
            <a:ext cx="108813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EEF1E8"/>
                </a:solidFill>
                <a:latin typeface="Aptos Display"/>
              </a:rPr>
              <a:t>A refutation log is an engineering 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7726679"/>
            <a:ext cx="32918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758482"/>
                </a:solidFill>
                <a:latin typeface="Aptos Display"/>
              </a:rPr>
              <a:t>Qwen 3.5/3.6 inference engine ·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